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04672"/>
            <a:ext cx="11338560" cy="0"/>
          </a:xfrm>
          <a:prstGeom prst="line">
            <a:avLst/>
          </a:prstGeom>
          <a:noFill/>
          <a:ln w="12700">
            <a:solidFill>
              <a:srgbClr val="1B22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2688" y="2834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7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ACADEMIA AGILE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pic>
        <p:nvPicPr>
          <p:cNvPr id="3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91440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7FC"/>
                </a:solidFill>
              </a:rPr>
              <a:t>Academia Agile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49808" y="2852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B82FF"/>
                </a:solidFill>
              </a:rPr>
              <a:t>Manual completo de uso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68096" y="3493008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6B1CD"/>
                </a:solidFill>
              </a:rPr>
              <a:t>Aprenda, pratique, acompanhe sua evolução e peça ajuda quando precisar.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0" y="1051560"/>
            <a:ext cx="2971800" cy="4343400"/>
          </a:xfrm>
          <a:prstGeom prst="roundRect">
            <a:avLst>
              <a:gd name="adj" fmla="val 3692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B1CD"/>
                </a:solidFill>
              </a:rPr>
              <a:t>JORNADA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41080" y="1965960"/>
            <a:ext cx="164592" cy="164592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79408" y="1947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Estudos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41080" y="2624328"/>
            <a:ext cx="164592" cy="164592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79408" y="2606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Métricas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41080" y="3282696"/>
            <a:ext cx="164592" cy="164592"/>
          </a:xfrm>
          <a:prstGeom prst="ellipse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79408" y="32644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Conquistas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641080" y="3941064"/>
            <a:ext cx="164592" cy="164592"/>
          </a:xfrm>
          <a:prstGeom prst="ellipse">
            <a:avLst/>
          </a:prstGeom>
          <a:solidFill>
            <a:srgbClr val="FFBE50"/>
          </a:solidFill>
          <a:ln w="12700">
            <a:solidFill>
              <a:srgbClr val="FFBE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79408" y="39227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FAC + SAC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1CD"/>
                </a:solidFill>
              </a:rPr>
              <a:t>Versão 1.0 · Setembro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VISÃO GERAL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O que você encontra na plataforma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A Academia Agile organiza sua prática em um fluxo simples e progressivo.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423160"/>
            <a:ext cx="50292" cy="182880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2FF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53312" y="26243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Jornada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Veja seu nível atual, a próxima meta e o caminho de evolução.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56432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6432" y="2423160"/>
            <a:ext cx="50292" cy="1828800"/>
          </a:xfrm>
          <a:prstGeom prst="rect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2464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7B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69664" y="26243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Estudos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12464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Acesse vídeos e pratique perguntas por assunto.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72784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72784" y="2423160"/>
            <a:ext cx="50292" cy="1828800"/>
          </a:xfrm>
          <a:prstGeom prst="rect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28816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D56E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86016" y="26243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Métricas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28816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Acompanhe domínio, precisão e pontos de atenção.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089136" y="2423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89136" y="2423160"/>
            <a:ext cx="50292" cy="1828800"/>
          </a:xfrm>
          <a:prstGeom prst="rect">
            <a:avLst/>
          </a:prstGeom>
          <a:solidFill>
            <a:srgbClr val="FFBE50"/>
          </a:solidFill>
          <a:ln w="12700">
            <a:solidFill>
              <a:srgbClr val="FFBE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45168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E50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802368" y="26243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Ajuda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345168" y="3081528"/>
            <a:ext cx="20574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Consulte a FAC antes de abrir um chamado no SAC.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58368" y="4754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1CD"/>
                </a:solidFill>
              </a:rPr>
              <a:t>A navegação principal fica no topo. No celular, os mesmos destinos aparecem em uma barra adaptada.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PRIMEIRO ACESSO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Comece sem complicação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Você pode explorar a plataforma antes de criar uma conta.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239572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228600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Abra a página da Academia Agile.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89864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78892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Use a Jornada, Estudos e Métricas para conhecer a interface.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40156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329184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O progresso de visitante fica somente na sessão atual.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390448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3794760"/>
            <a:ext cx="5468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Para sincronizar entre dispositivos, crie uma conta ou entre em uma existente.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949440" y="2148840"/>
            <a:ext cx="3931920" cy="2468880"/>
          </a:xfrm>
          <a:prstGeom prst="roundRect">
            <a:avLst>
              <a:gd name="adj" fmla="val 4444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B1CD"/>
                </a:solidFill>
              </a:rPr>
              <a:t>VISITANTE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31520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C"/>
                </a:solidFill>
              </a:rPr>
              <a:t>0% domínio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7315200" y="3703320"/>
            <a:ext cx="3017520" cy="91440"/>
          </a:xfrm>
          <a:prstGeom prst="rect">
            <a:avLst/>
          </a:prstGeom>
          <a:solidFill>
            <a:srgbClr val="1B2234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4069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D56E"/>
                </a:solidFill>
              </a:rPr>
              <a:t>Sem dados de outra pessoa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CONTA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Criar conta ou entrar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A conta permite salvar seu progresso com segurança na nuvem.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148840"/>
            <a:ext cx="50292" cy="228600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2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44752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Criar conta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87552" y="2807208"/>
            <a:ext cx="29718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Informe nome, sobrenome, email, unidade e uma senha de 8 a 128 caracteres.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2148840"/>
            <a:ext cx="50292" cy="2286000"/>
          </a:xfrm>
          <a:prstGeom prst="rect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7BFF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02352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Maioridade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45152" y="2807208"/>
            <a:ext cx="29718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O cadastro é destinado exclusivamente a pessoas com 18 anos ou mais. Marque a confirmação.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214884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2148840"/>
            <a:ext cx="50292" cy="2286000"/>
          </a:xfrm>
          <a:prstGeom prst="rect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D56E"/>
                </a:solidFill>
              </a:rPr>
              <a:t>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9952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Consentimentos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02752" y="2807208"/>
            <a:ext cx="29718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Leia a Política de Privacidade e os Termos de Uso. Analytics é opcional e separado.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" y="5074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1CD"/>
                </a:solidFill>
              </a:rPr>
              <a:t>Para recuperar uma senha, use “Esqueci minha senha” no formulário de login e confira seu email.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PRIVACIDADE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Consentimentos e dados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As escolhas de privacidade ficam separadas do uso educacional principal.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2402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50292" cy="201168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423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2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44752" y="2441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Obrigatório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87552" y="2898648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Aceite da Política de Privacidade e dos Termos de Uso para criar a conta.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22402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2240280"/>
            <a:ext cx="50292" cy="2011680"/>
          </a:xfrm>
          <a:prstGeom prst="rect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2423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7BFF"/>
                </a:solidFill>
              </a:rPr>
              <a:t>18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02352" y="2441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Obrigatório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45152" y="2898648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Confirmação de maioridade: a plataforma é exclusiva para maiores de 18 anos.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22402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2240280"/>
            <a:ext cx="50292" cy="2011680"/>
          </a:xfrm>
          <a:prstGeom prst="rect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423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D56E"/>
                </a:solidFill>
              </a:rPr>
              <a:t>⌁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9952" y="24414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Opcional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02752" y="2898648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Analytics mede uso da plataforma para orientar melhorias. Recusar não bloqueia os estudos.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1CD"/>
                </a:solidFill>
              </a:rPr>
              <a:t>Você pode alterar a preferência de Analytics no menu da conta. Solicitações de privacidade: acaeacademiaagile@gmail.com.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ESTUDOS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Estude por assunto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Cada card reúne o material e a prática daquele conceito.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4937760" cy="2971800"/>
          </a:xfrm>
          <a:prstGeom prst="roundRect">
            <a:avLst>
              <a:gd name="adj" fmla="val 3692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C"/>
                </a:solidFill>
              </a:rPr>
              <a:t>Sprint Goal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51560" y="2944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Scrum · 0/1 respondidas · 0% domínio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51560" y="365760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B2234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3749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C"/>
                </a:solidFill>
              </a:rPr>
              <a:t>Vídeo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48840" y="365760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31720" y="37490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C"/>
                </a:solidFill>
              </a:rPr>
              <a:t>Praticar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5156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3D56E"/>
                </a:solidFill>
              </a:rPr>
              <a:t>O botão Praticar aparece somente depois que houver atividade registrada naquele assunto.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2441448"/>
            <a:ext cx="91440" cy="91440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233172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Use o vídeo para revisar o conceito.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309360" y="2944368"/>
            <a:ext cx="91440" cy="91440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0528" y="283464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Leia o contador no formato respondidas/total.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309360" y="3447288"/>
            <a:ext cx="91440" cy="91440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10528" y="333756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Depois da primeira resposta, pratique novamente quando quiser.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PRÁTICA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Responda às perguntas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A ordem das alternativas é embaralhada para reduzir respostas por posição.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2340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2FF"/>
                </a:solidFill>
              </a:rPr>
              <a:t>Treinamento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23160" y="23408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7BFF"/>
                </a:solidFill>
              </a:rPr>
              <a:t>Intermediário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61320" y="23408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5/12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246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C"/>
                </a:solidFill>
              </a:rPr>
              <a:t>Leia o enunciado e escolha uma alternativa.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3840480"/>
            <a:ext cx="9784080" cy="384048"/>
          </a:xfrm>
          <a:prstGeom prst="roundRect">
            <a:avLst>
              <a:gd name="adj" fmla="val 2857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24712" y="395020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2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481328" y="3931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C"/>
                </a:solidFill>
              </a:rPr>
              <a:t>Alternativa 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" y="4343400"/>
            <a:ext cx="9784080" cy="384048"/>
          </a:xfrm>
          <a:prstGeom prst="roundRect">
            <a:avLst>
              <a:gd name="adj" fmla="val 2857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24712" y="445312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2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481328" y="4434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C"/>
                </a:solidFill>
              </a:rPr>
              <a:t>Alternativa B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4846320"/>
            <a:ext cx="9784080" cy="384048"/>
          </a:xfrm>
          <a:prstGeom prst="roundRect">
            <a:avLst>
              <a:gd name="adj" fmla="val 2857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24712" y="495604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2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481328" y="4937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C"/>
                </a:solidFill>
              </a:rPr>
              <a:t>Alternativa 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5349240"/>
            <a:ext cx="9784080" cy="384048"/>
          </a:xfrm>
          <a:prstGeom prst="roundRect">
            <a:avLst>
              <a:gd name="adj" fmla="val 2857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" y="54589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B82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481328" y="5440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C"/>
                </a:solidFill>
              </a:rPr>
              <a:t>Alternativa 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MÉTRICAS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Entenda seus indicadores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Os números mostram o que já foi respondido, não um progresso inventado.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148840"/>
            <a:ext cx="50292" cy="164592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2FF"/>
                </a:solidFill>
              </a:rPr>
              <a:t>📊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4475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Domínio médio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87552" y="280720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Considera somente competências que já possuem respostas.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2148840"/>
            <a:ext cx="50292" cy="1645920"/>
          </a:xfrm>
          <a:prstGeom prst="rect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7BFF"/>
                </a:solidFill>
              </a:rPr>
              <a:t>🎯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0235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Precisão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45152" y="280720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Acertos gerais em todas as perguntas respondidas.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2148840"/>
            <a:ext cx="3429000" cy="1645920"/>
          </a:xfrm>
          <a:prstGeom prst="roundRect">
            <a:avLst>
              <a:gd name="adj" fmla="val 6667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2148840"/>
            <a:ext cx="50292" cy="1645920"/>
          </a:xfrm>
          <a:prstGeom prst="rect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D56E"/>
                </a:solidFill>
              </a:rPr>
              <a:t>!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995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Pontos de atenção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02752" y="2807208"/>
            <a:ext cx="29260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Lista todas as competências abaixo de 70%.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B1CD"/>
                </a:solidFill>
              </a:rPr>
              <a:t>Exemplo de leitura: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468880" y="4233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7FC"/>
                </a:solidFill>
              </a:rPr>
              <a:t>50% · 2/4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4297680" y="43434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1CD"/>
                </a:solidFill>
              </a:rPr>
              <a:t>Você acertou 2 de 4 respostas naquele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CONQUISTAS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Evolua com conquistas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As conquistas reconhecem constância, desempenho e exploração dos conteúdos.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77240" y="224028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2441448"/>
            <a:ext cx="411480" cy="41148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2404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C"/>
                </a:solidFill>
              </a:rPr>
              <a:t>Primeiro passo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1ª pergunta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224028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441448"/>
            <a:ext cx="411480" cy="411480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404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C"/>
                </a:solidFill>
              </a:rPr>
              <a:t>Maratona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0" y="2697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25 respostas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338328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5840" y="3584448"/>
            <a:ext cx="411480" cy="411480"/>
          </a:xfrm>
          <a:prstGeom prst="ellipse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45920" y="3547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C"/>
                </a:solidFill>
              </a:rPr>
              <a:t>Constância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645920" y="3840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7 dias seguidos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3383280"/>
            <a:ext cx="4892040" cy="822960"/>
          </a:xfrm>
          <a:prstGeom prst="roundRect">
            <a:avLst>
              <a:gd name="adj" fmla="val 13333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3584448"/>
            <a:ext cx="411480" cy="411480"/>
          </a:xfrm>
          <a:prstGeom prst="ellipse">
            <a:avLst/>
          </a:prstGeom>
          <a:solidFill>
            <a:srgbClr val="FFBE50"/>
          </a:solidFill>
          <a:ln w="12700">
            <a:solidFill>
              <a:srgbClr val="FFBE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3547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C"/>
                </a:solidFill>
              </a:rPr>
              <a:t>Sessão perfeita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32320" y="3840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100% de acertos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5029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1CD"/>
                </a:solidFill>
              </a:rPr>
              <a:t>Veja as conquistas desbloqueadas e bloqueadas na tela Perfil.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AJUDA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Consulte a FAC antes do SAC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A FAC resolve as dúvidas mais comuns sem precisar abrir um chamado.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4937760" cy="2926080"/>
          </a:xfrm>
          <a:prstGeom prst="roundRect">
            <a:avLst>
              <a:gd name="adj" fmla="val 375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C"/>
                </a:solidFill>
              </a:rPr>
              <a:t>FAC · Perguntas frequentes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063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›  Como salvo meu progresso?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34564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›  Como recupero minha senha?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38496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›  O que o Analytics coleta?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4242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›  Como excluo minha conta?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48840"/>
            <a:ext cx="4937760" cy="2926080"/>
          </a:xfrm>
          <a:prstGeom prst="roundRect">
            <a:avLst>
              <a:gd name="adj" fmla="val 375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C"/>
                </a:solidFill>
              </a:rPr>
              <a:t>SAC · Abrir chamado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537960" y="3172968"/>
            <a:ext cx="91440" cy="91440"/>
          </a:xfrm>
          <a:prstGeom prst="ellipse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39128" y="306324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Entre na sua conta.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37960" y="3675888"/>
            <a:ext cx="91440" cy="91440"/>
          </a:xfrm>
          <a:prstGeom prst="ellipse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39128" y="356616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Escolha uma categoria.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537960" y="4178808"/>
            <a:ext cx="91440" cy="91440"/>
          </a:xfrm>
          <a:prstGeom prst="ellipse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406908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Explique o problema com detalhes.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37960" y="4681728"/>
            <a:ext cx="91440" cy="91440"/>
          </a:xfrm>
          <a:prstGeom prst="ellipse">
            <a:avLst/>
          </a:prstGeom>
          <a:solidFill>
            <a:srgbClr val="23D56E"/>
          </a:solidFill>
          <a:ln w="12700">
            <a:solidFill>
              <a:srgbClr val="23D5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39128" y="4572000"/>
            <a:ext cx="3913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Acompanhe seus chamados recentes.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CONTA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Gerencie sua conta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O menu de conta reúne privacidade, sessão e exclusão dos dados.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14884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148840"/>
            <a:ext cx="50292" cy="1965960"/>
          </a:xfrm>
          <a:prstGeom prst="rect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2FF"/>
                </a:solidFill>
              </a:rPr>
              <a:t>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4475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Analytics de uso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87552" y="2807208"/>
            <a:ext cx="2926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Mostra quais telas e recursos são usados para orientar melhorias. Não é necessário para estudar.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2148840"/>
            <a:ext cx="50292" cy="1965960"/>
          </a:xfrm>
          <a:prstGeom prst="rect">
            <a:avLst/>
          </a:prstGeom>
          <a:solidFill>
            <a:srgbClr val="FF8080"/>
          </a:solidFill>
          <a:ln w="12700">
            <a:solidFill>
              <a:srgbClr val="FF80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8080"/>
                </a:solidFill>
              </a:rPr>
              <a:t>⌫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10235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Excluir conta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45152" y="2807208"/>
            <a:ext cx="2926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Remove a conta e os dados associados. A ação é confirmada antes de ser executada.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0" y="214884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2148840"/>
            <a:ext cx="50292" cy="1965960"/>
          </a:xfrm>
          <a:prstGeom prst="rect">
            <a:avLst/>
          </a:prstGeom>
          <a:solidFill>
            <a:srgbClr val="A77BFF"/>
          </a:solidFill>
          <a:ln w="12700">
            <a:solidFill>
              <a:srgbClr val="A77B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3317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7BFF"/>
                </a:solidFill>
              </a:rPr>
              <a:t>↪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759952" y="2350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C"/>
                </a:solidFill>
              </a:rPr>
              <a:t>Sair da conta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302752" y="2807208"/>
            <a:ext cx="2926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6B1CD"/>
                </a:solidFill>
              </a:rPr>
              <a:t>Encerra a sessão no dispositivo atual. O progresso continua na nuvem.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" y="4892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1CD"/>
                </a:solidFill>
              </a:rPr>
              <a:t>A política de privacidade está disponível no cadastro e em data-policy.html.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SOLUÇÃO DE PROBLEMAS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Quando algo não sair como esperado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Use este checklist antes de abrir um chamado.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22960" y="230428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2194560"/>
            <a:ext cx="6382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Atualize a página com Ctrl + F5 para remover cache antigo.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80720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697480"/>
            <a:ext cx="6382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Confirme se você está na conta correta.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31012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3200400"/>
            <a:ext cx="6382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Verifique se o botão Praticar aparece apenas após uma resposta.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381304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3703320"/>
            <a:ext cx="6382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Confira se o email de recuperação chegou ao spam.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4315968"/>
            <a:ext cx="91440" cy="91440"/>
          </a:xfrm>
          <a:prstGeom prst="ellipse">
            <a:avLst/>
          </a:prstGeom>
          <a:solidFill>
            <a:srgbClr val="5B82FF"/>
          </a:solidFill>
          <a:ln w="12700">
            <a:solidFill>
              <a:srgbClr val="5B8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206240"/>
            <a:ext cx="6382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7FC"/>
                </a:solidFill>
              </a:rPr>
              <a:t>Se o problema continuar, abra o SAC com categoria e detalhes.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955280" y="2331720"/>
            <a:ext cx="3200400" cy="2286000"/>
          </a:xfrm>
          <a:prstGeom prst="roundRect">
            <a:avLst>
              <a:gd name="adj" fmla="val 4800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B1CD"/>
                </a:solidFill>
              </a:rPr>
              <a:t>CANAL OFICIAL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F7FC"/>
                </a:solidFill>
              </a:rPr>
              <a:t>acaeacademiaagile@gmail.com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21040" y="3886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Use o SAC para problemas técnicos e a política para solicitações de privacidade.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ownloads\CAAE-FINAL-v2\caae-v6\caae-improved\assets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914400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0" y="3108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A6B1CD"/>
                </a:solidFill>
              </a:rPr>
              <a:t>RESUMO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C"/>
                </a:solidFill>
              </a:rPr>
              <a:t>Seu caminho na Academia Agile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21792" y="166420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1CD"/>
                </a:solidFill>
              </a:rPr>
              <a:t>Explore, pratique, acompanhe e peça ajuda quando precisar.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82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0876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C"/>
                </a:solidFill>
              </a:rPr>
              <a:t>Explore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Conheça a Jornada e os Estudos.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237744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7B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29768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C"/>
                </a:solidFill>
              </a:rPr>
              <a:t>Pratique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490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Responda e revise seus conceitos.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237744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D56E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08660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C"/>
                </a:solidFill>
              </a:rPr>
              <a:t>Acompanhe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379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Leia suas métricas e conquistas.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2377440"/>
            <a:ext cx="2331720" cy="1965960"/>
          </a:xfrm>
          <a:prstGeom prst="roundRect">
            <a:avLst>
              <a:gd name="adj" fmla="val 5581"/>
            </a:avLst>
          </a:prstGeom>
          <a:solidFill>
            <a:srgbClr val="141925"/>
          </a:solidFill>
          <a:ln w="12700">
            <a:solidFill>
              <a:srgbClr val="1B22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0" y="2651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E50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87552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C"/>
                </a:solidFill>
              </a:rPr>
              <a:t>Resolva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2688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1CD"/>
                </a:solidFill>
              </a:rPr>
              <a:t>Consulte a FAC e use o SAC.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5166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2FF"/>
                </a:solidFill>
              </a:rPr>
              <a:t>Site: https://aeca-agile-excellence.web.app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5669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1CD"/>
                </a:solidFill>
              </a:rPr>
              <a:t>Obrigado por fazer parte da jornada.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6B1C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Academia Agile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Uso - Academia Agile</dc:title>
  <dc:subject>Manual de uso da Academia Agile</dc:subject>
  <dc:creator>Guilherme Alisson Natalino da Silva</dc:creator>
  <cp:lastModifiedBy>Guilherme Alisson Natalino da Silva</cp:lastModifiedBy>
  <cp:revision>1</cp:revision>
  <dcterms:created xsi:type="dcterms:W3CDTF">2026-09-08T15:32:47Z</dcterms:created>
  <dcterms:modified xsi:type="dcterms:W3CDTF">2026-09-08T15:32:47Z</dcterms:modified>
</cp:coreProperties>
</file>